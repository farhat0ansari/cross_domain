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5576" y="2052735"/>
            <a:ext cx="9212424" cy="682825"/>
          </a:xfrm>
        </p:spPr>
        <p:txBody>
          <a:bodyPr>
            <a:normAutofit fontScale="90000"/>
          </a:bodyPr>
          <a:lstStyle/>
          <a:p>
            <a:r>
              <a:rPr lang="en-US" sz="2700" b="1" dirty="0"/>
              <a:t>School of Computer Science and Engineering</a:t>
            </a:r>
            <a:br>
              <a:rPr lang="en-US" sz="2700" b="1" dirty="0"/>
            </a:br>
            <a:r>
              <a:rPr lang="en-US" sz="2700" b="1" dirty="0"/>
              <a:t>Department of Computer Science and Engineering</a:t>
            </a:r>
            <a:r>
              <a:rPr lang="en-US" sz="3600" dirty="0"/>
              <a:t/>
            </a:r>
            <a:br>
              <a:rPr lang="en-US" sz="3600" dirty="0"/>
            </a:br>
            <a:endParaRPr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35560"/>
            <a:ext cx="8879633" cy="1621836"/>
          </a:xfrm>
        </p:spPr>
        <p:txBody>
          <a:bodyPr>
            <a:noAutofit/>
          </a:bodyPr>
          <a:lstStyle/>
          <a:p>
            <a:r>
              <a:rPr lang="en-US" sz="3600" b="1" dirty="0"/>
              <a:t>Cross-Domain Fake Review Detection via </a:t>
            </a:r>
            <a:r>
              <a:rPr lang="en-US" sz="3600" b="1" dirty="0" smtClean="0"/>
              <a:t>Counterfactual </a:t>
            </a:r>
            <a:r>
              <a:rPr lang="en-US" sz="3600" b="1" dirty="0"/>
              <a:t>Representations (COAT)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360228" y="5124529"/>
            <a:ext cx="3331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Supervised By:</a:t>
            </a:r>
          </a:p>
          <a:p>
            <a:r>
              <a:rPr sz="2400" dirty="0"/>
              <a:t>Dr. Neha </a:t>
            </a:r>
            <a:r>
              <a:rPr sz="2400" dirty="0" err="1"/>
              <a:t>Janu</a:t>
            </a:r>
            <a:endParaRPr sz="2400" dirty="0"/>
          </a:p>
        </p:txBody>
      </p:sp>
      <p:sp>
        <p:nvSpPr>
          <p:cNvPr id="6" name="Rectangle 5"/>
          <p:cNvSpPr/>
          <p:nvPr/>
        </p:nvSpPr>
        <p:spPr>
          <a:xfrm>
            <a:off x="802432" y="5200948"/>
            <a:ext cx="45626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Submitted By:</a:t>
            </a:r>
          </a:p>
          <a:p>
            <a:r>
              <a:rPr lang="en-US" dirty="0"/>
              <a:t>Student </a:t>
            </a:r>
            <a:r>
              <a:rPr lang="en-US" dirty="0" smtClean="0"/>
              <a:t>Name – </a:t>
            </a:r>
            <a:r>
              <a:rPr lang="en-US" dirty="0" err="1" smtClean="0"/>
              <a:t>Farhat</a:t>
            </a:r>
            <a:r>
              <a:rPr lang="en-US" dirty="0" smtClean="0"/>
              <a:t> Ansari</a:t>
            </a:r>
            <a:endParaRPr lang="en-US" dirty="0"/>
          </a:p>
          <a:p>
            <a:r>
              <a:rPr lang="en-US" dirty="0"/>
              <a:t>Enrollment No</a:t>
            </a:r>
            <a:r>
              <a:rPr lang="en-US" dirty="0" smtClean="0"/>
              <a:t>.- 23FE10CSE00151</a:t>
            </a:r>
            <a:endParaRPr lang="en-US" dirty="0"/>
          </a:p>
        </p:txBody>
      </p:sp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9" y="36039"/>
            <a:ext cx="4174039" cy="1222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t>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t>Conclusion &amp; Future Work</a:t>
            </a:r>
          </a:p>
          <a:p>
            <a:pPr>
              <a:buFont typeface="Wingdings" panose="05000000000000000000" pitchFamily="2" charset="2"/>
              <a:buChar char="v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Char char="•"/>
            </a:pPr>
            <a:r>
              <a:t>The rapid growth of internet usage has significantly transformed online shopping on e-commerce platforms such as Amazon, Flipkart and others.</a:t>
            </a:r>
          </a:p>
          <a:p>
            <a:pPr>
              <a:buChar char="•"/>
            </a:pPr>
            <a:r>
              <a:t>Online reviews play a crucial role in influencing customer decisions before purchasing products.</a:t>
            </a:r>
          </a:p>
          <a:p>
            <a:pPr>
              <a:buChar char="•"/>
            </a:pPr>
            <a:r>
              <a:t>A Brightlocal survey (2019) found 76% of consumers trusted online reviews as much as personal recommendations — dropped to 50% in 2024.</a:t>
            </a:r>
          </a:p>
          <a:p>
            <a:pPr>
              <a:buChar char="•"/>
            </a:pPr>
            <a:r>
              <a:t>The increasing prevalence of fake reviews on popular platforms puts all stakeholders in a disadvantageous position.</a:t>
            </a:r>
          </a:p>
          <a:p>
            <a:pPr>
              <a:buChar char="•"/>
            </a:pPr>
            <a:r>
              <a:t>Identifying fake reviews is challenging for humans since they closely resemble real ones, making machine learning crucial for detection.</a:t>
            </a:r>
          </a:p>
          <a:p>
            <a:pPr>
              <a:buChar char="•"/>
            </a:pPr>
            <a:r>
              <a:t>Existing research mostly focuses on single-domain models which do not effectively transfer across domains.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b="1"/>
              <a:t>Key gaps in existing research:</a:t>
            </a:r>
          </a:p>
          <a:p>
            <a:pPr>
              <a:buChar char="•"/>
            </a:pPr>
            <a:r>
              <a:t>Existing research mostly focuses on single-domain models using textual, behavioural, and integrated features.</a:t>
            </a:r>
          </a:p>
          <a:p>
            <a:pPr>
              <a:buChar char="•"/>
            </a:pPr>
            <a:r>
              <a:t>Availability of labeled datasets is scarce and limited to hospitality, e-commerce and entertainment domains.</a:t>
            </a:r>
          </a:p>
          <a:p>
            <a:pPr>
              <a:buChar char="•"/>
            </a:pPr>
            <a:r>
              <a:t>Detecting fake reviews in underrepresented domains remains a major challenge.</a:t>
            </a:r>
          </a:p>
          <a:p>
            <a:pPr>
              <a:buNone/>
            </a:pPr>
            <a:r>
              <a:rPr b="1"/>
              <a:t>Our Solution — COAT Framework:</a:t>
            </a:r>
          </a:p>
          <a:p>
            <a:pPr>
              <a:buChar char="•"/>
            </a:pPr>
            <a:r>
              <a:t>COAT = Counterfactuals by the Orthogonal Alignment of BERT-driven mask infillings.</a:t>
            </a:r>
          </a:p>
          <a:p>
            <a:pPr>
              <a:buChar char="•"/>
            </a:pPr>
            <a:r>
              <a:t>Addresses domain shift by generating counterfactual representations aligned to the target domain.</a:t>
            </a:r>
          </a:p>
          <a:p>
            <a:pPr>
              <a:buChar char="•"/>
            </a:pPr>
            <a:r>
              <a:t>Uses zero-shot labelling — no labeled data needed from the target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Char char="•"/>
            </a:pPr>
            <a:r>
              <a:t>Several research studies have focused on detecting fake or deceptive online reviews using Machine Learning and NLP.</a:t>
            </a:r>
          </a:p>
          <a:p>
            <a:pPr>
              <a:buChar char="•"/>
            </a:pPr>
            <a:r>
              <a:t>Li et al. (2014) — First to introduce cross-domain classification using SVM and SAGE model.</a:t>
            </a:r>
          </a:p>
          <a:p>
            <a:pPr>
              <a:buChar char="•"/>
            </a:pPr>
            <a:r>
              <a:t>Ren and Ji (2017) — Proposed Bi-directional Average GRNN with CNN for document-level representations.</a:t>
            </a:r>
          </a:p>
          <a:p>
            <a:pPr>
              <a:buChar char="•"/>
            </a:pPr>
            <a:r>
              <a:t>Wei et al. (2020) — Used LIWC psycholinguistic features for cross-domain fake review detection.</a:t>
            </a:r>
          </a:p>
          <a:p>
            <a:pPr>
              <a:buChar char="•"/>
            </a:pPr>
            <a:r>
              <a:t>Cagnina and Rosso (2017) — Used character n-grams and LIWC features; accuracy only 55–65%.</a:t>
            </a:r>
          </a:p>
          <a:p>
            <a:pPr>
              <a:buChar char="•"/>
            </a:pPr>
            <a:r>
              <a:t>Chen et al. (2025) — MASK-BERT: classifies reviews by masking domain-specific words using 3-3 masking.</a:t>
            </a:r>
          </a:p>
          <a:p>
            <a:pPr>
              <a:buChar char="•"/>
            </a:pPr>
            <a:r>
              <a:t>Ren et al. (2025) — Multi-level feature extraction combining GloVe, TF-IDF, CNN and DistilBERT.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b="1"/>
              <a:t>Limitations of existing approaches:</a:t>
            </a:r>
          </a:p>
          <a:p>
            <a:pPr>
              <a:buChar char="•"/>
            </a:pPr>
            <a:r>
              <a:t>Limited domain applicability — often evaluating only a few domain pairs.</a:t>
            </a:r>
          </a:p>
          <a:p>
            <a:pPr>
              <a:buChar char="•"/>
            </a:pPr>
            <a:r>
              <a:t>Rely on handcrafted features like LIWC and POS which fail to generalize across domains.</a:t>
            </a:r>
          </a:p>
          <a:p>
            <a:pPr>
              <a:buChar char="•"/>
            </a:pPr>
            <a:r>
              <a:t>MASK-BERT risks semantic incoherence due to arbitrary masking mechanism.</a:t>
            </a:r>
          </a:p>
          <a:p>
            <a:pPr>
              <a:buChar char="•"/>
            </a:pPr>
            <a:r>
              <a:t>Multi-level fusion frameworks struggle to learn domain-invariant features without contrastive signals.</a:t>
            </a:r>
          </a:p>
          <a:p>
            <a:pPr>
              <a:buNone/>
            </a:pPr>
            <a:r>
              <a:rPr b="1"/>
              <a:t>Research Gap:</a:t>
            </a:r>
          </a:p>
          <a:p>
            <a:pPr>
              <a:buChar char="•"/>
            </a:pPr>
            <a:r>
              <a:t>No prior research uses datasets from distinct domains all derived from real user reviews.</a:t>
            </a:r>
          </a:p>
          <a:p>
            <a:pPr>
              <a:buChar char="•"/>
            </a:pPr>
            <a:r>
              <a:t>Need for a robust, semantically guided framework that bridges domain gaps effectively.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t>Fake reviews on e-commerce platforms mislead consumers and damage trust in online markets. Existing fake review detection models are trained and tested on a single domain, making them ineffective when applied to different domains due to domain-specific vocabulary and writing styles. Labeled datasets are scarce outside a few well-explored domains. Therefore, there is a critical need for a cross-domain fake review detection framework that can transfer knowledge from a labeled source domain to an unlabeled target domain without requiring any labeled data from the target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har char="•"/>
            </a:pPr>
            <a:r>
              <a:t>To develop a cross-domain fake review detection framework using counterfactual representations.</a:t>
            </a:r>
          </a:p>
          <a:p>
            <a:pPr>
              <a:buChar char="•"/>
            </a:pPr>
            <a:r>
              <a:t>To design a two-step masking strategy that removes source-domain-specific vocabulary from reviews.</a:t>
            </a:r>
          </a:p>
          <a:p>
            <a:pPr>
              <a:buChar char="•"/>
            </a:pPr>
            <a:r>
              <a:t>To generate high-quality counterfactuals using BERT masked language modeling (MLM).</a:t>
            </a:r>
          </a:p>
          <a:p>
            <a:pPr>
              <a:buChar char="•"/>
            </a:pPr>
            <a:r>
              <a:t>To apply Orthogonal Procrustes Alignment to shift embeddings toward the target domain.</a:t>
            </a:r>
          </a:p>
          <a:p>
            <a:pPr>
              <a:buChar char="•"/>
            </a:pPr>
            <a:r>
              <a:t>To train a Bi-LSTM classifier on counterfactuals and predict labels in a zero-shot setting.</a:t>
            </a:r>
          </a:p>
          <a:p>
            <a:pPr>
              <a:buChar char="•"/>
            </a:pPr>
            <a:r>
              <a:t>To evaluate the framework on multiple domain pairs using accuracy and F1-score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t>The proposed COAT framework processes reviews through 3 phases to detect fake reviews across domains.</a:t>
            </a:r>
          </a:p>
          <a:p>
            <a:pPr>
              <a:buNone/>
            </a:pPr>
            <a:r>
              <a:rPr b="1"/>
              <a:t>System Flow:</a:t>
            </a:r>
          </a:p>
          <a:p>
            <a:pPr>
              <a:buChar char="•"/>
            </a:pPr>
            <a:r>
              <a:t>Source domain reviews undergo two-step masking to remove domain-specific words.</a:t>
            </a:r>
          </a:p>
          <a:p>
            <a:pPr>
              <a:buChar char="•"/>
            </a:pPr>
            <a:r>
              <a:t>Masked reviews are filled using BERT trained on target domain vocabulary.</a:t>
            </a:r>
          </a:p>
          <a:p>
            <a:pPr>
              <a:buChar char="•"/>
            </a:pPr>
            <a:r>
              <a:t>Infilled reviews are orthogonally aligned toward the target domain using Procrustes algorithm.</a:t>
            </a:r>
          </a:p>
          <a:p>
            <a:pPr>
              <a:buChar char="•"/>
            </a:pPr>
            <a:r>
              <a:t>Bi-LSTM classifier trained on counterfactuals predicts fake/real labels on target domain in zero-shot.</a:t>
            </a:r>
          </a:p>
          <a:p>
            <a:pPr>
              <a:buChar char="•"/>
            </a:pPr>
            <a:r>
              <a:t>Accuracy and F1-score computed by comparing predicted labels with true target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b="1"/>
              <a:t>Phase I — Two-Step Masking:</a:t>
            </a:r>
          </a:p>
          <a:p>
            <a:pPr>
              <a:buChar char="•"/>
            </a:pPr>
            <a:r>
              <a:t>Step 1 — Heuristic Masking: Calculates domain affinity score using conditional probability and entropy. Words strongly associated with source domain are replaced with [MASK].</a:t>
            </a:r>
          </a:p>
          <a:p>
            <a:pPr>
              <a:buChar char="•"/>
            </a:pPr>
            <a:r>
              <a:t>Step 2 — Contextual Masking: Uses BERT attention weights to identify contextually domain-specific words. Words above threshold percentile are masked.</a:t>
            </a:r>
          </a:p>
          <a:p>
            <a:pPr>
              <a:buChar char="•"/>
            </a:pPr>
            <a:r>
              <a:t>Output: Domain-agnostic masked reviews ready for counterfactual generation.</a:t>
            </a:r>
          </a:p>
          <a:p>
            <a:pPr>
              <a:buNone/>
            </a:pPr>
            <a:r>
              <a:rPr b="1"/>
              <a:t>Example (Hotels → Yelp Restaurant):</a:t>
            </a:r>
          </a:p>
          <a:p>
            <a:pPr>
              <a:buChar char="•"/>
            </a:pPr>
            <a:r>
              <a:t>Original:  "The hotel room was clean and the staff was very helpful."</a:t>
            </a:r>
          </a:p>
          <a:p>
            <a:pPr>
              <a:buChar char="•"/>
            </a:pPr>
            <a:r>
              <a:t>After Masking:  "The [MASK] [MASK] was clean and the [MASK] was very helpful."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b="1"/>
              <a:t>Phase II — Counterfactual Generation:</a:t>
            </a:r>
          </a:p>
          <a:p>
            <a:pPr>
              <a:buChar char="•"/>
            </a:pPr>
            <a:r>
              <a:t>Step 1 — BERT Mask Infilling: BERT trained on target domain vocabulary fills [MASK] tokens. SBERT cosine similarity selects the best permutation from top-10 candidates.</a:t>
            </a:r>
          </a:p>
          <a:p>
            <a:pPr>
              <a:buChar char="•"/>
            </a:pPr>
            <a:r>
              <a:t>Step 2 — Orthogonal Procrustes Alignment (OPA): Finds optimal transformation Q* that minimizes Frobenius norm distance between source and target embeddings. Shifts counterfactuals closer to target domain.</a:t>
            </a:r>
          </a:p>
          <a:p>
            <a:pPr>
              <a:buNone/>
            </a:pPr>
            <a:r>
              <a:rPr b="1"/>
              <a:t>Example Result:</a:t>
            </a:r>
          </a:p>
          <a:p>
            <a:pPr>
              <a:buChar char="•"/>
            </a:pPr>
            <a:r>
              <a:t>Masked:  "The [MASK] [MASK] was clean and the [MASK] was very helpful."</a:t>
            </a:r>
          </a:p>
          <a:p>
            <a:pPr>
              <a:buChar char="•"/>
            </a:pPr>
            <a:r>
              <a:t>Counterfactual:  "The restaurant menu was clean and the waiter was very helpful."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b="1"/>
              <a:t>Phase III — Training and Prediction:</a:t>
            </a:r>
          </a:p>
          <a:p>
            <a:pPr>
              <a:buChar char="•"/>
            </a:pPr>
            <a:r>
              <a:t>Bi-LSTM classifier with 32 units and 30% dropout trained on counterfactuals.</a:t>
            </a:r>
          </a:p>
          <a:p>
            <a:pPr>
              <a:buChar char="•"/>
            </a:pPr>
            <a:r>
              <a:t>Adam optimizer (learning rate = 0.001), 100 epochs, batch size 32.</a:t>
            </a:r>
          </a:p>
          <a:p>
            <a:pPr>
              <a:buChar char="•"/>
            </a:pPr>
            <a:r>
              <a:t>5-fold cross validation used for hyperparameter tuning on training set.</a:t>
            </a:r>
          </a:p>
          <a:p>
            <a:pPr>
              <a:buNone/>
            </a:pPr>
            <a:r>
              <a:rPr b="1"/>
              <a:t>Zero-Shot Prediction:</a:t>
            </a:r>
          </a:p>
          <a:p>
            <a:pPr>
              <a:buChar char="•"/>
            </a:pPr>
            <a:r>
              <a:t>Labels of counterfactuals kept same as original source reviews.</a:t>
            </a:r>
          </a:p>
          <a:p>
            <a:pPr>
              <a:buChar char="•"/>
            </a:pPr>
            <a:r>
              <a:t>Trained model predicts fake/real labels on target domain without seeing any target labels.</a:t>
            </a:r>
          </a:p>
          <a:p>
            <a:pPr>
              <a:buChar char="•"/>
            </a:pPr>
            <a:r>
              <a:t>Predicted labels compared with true labels to calculate Accuracy and F1-score.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har char="•"/>
            </a:pPr>
            <a:r>
              <a:t>The COAT framework successfully transfers fake review detection knowledge across domains.</a:t>
            </a:r>
          </a:p>
          <a:p>
            <a:pPr>
              <a:buChar char="•"/>
            </a:pPr>
            <a:r>
              <a:t>Experiments conducted on Group I datasets: Hotels, Online Products, Yelp Restaurants.</a:t>
            </a:r>
          </a:p>
          <a:p>
            <a:pPr>
              <a:buChar char="•"/>
            </a:pPr>
            <a:r>
              <a:t>All 6 source-target combinations were evaluated in zero-shot setting.</a:t>
            </a:r>
          </a:p>
          <a:p>
            <a:pPr>
              <a:buChar char="•"/>
            </a:pPr>
            <a:r>
              <a:t>COAT outperforms all 7 baseline methods including MASK-BERT and MFE.</a:t>
            </a:r>
          </a:p>
          <a:p>
            <a:pPr>
              <a:buChar char="•"/>
            </a:pPr>
            <a:r>
              <a:t>Average accuracy improved by 17.31% and F1-score by 19.05% over baselines on Group 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45754"/>
              </p:ext>
            </p:extLst>
          </p:nvPr>
        </p:nvGraphicFramePr>
        <p:xfrm>
          <a:off x="365760" y="1474236"/>
          <a:ext cx="8498321" cy="358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Source → Target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 (%)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F1-Score (%)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Online Products → Yelp (P→R)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62.88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62.87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Hotels → Yelp (H→R)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50.81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50.61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Yelp → Online Products (R→P)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62.88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62.81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Hotels → Online Products (H→P)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51.38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51.30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Online Products → Hotels (P→H)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47.99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Weak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Yelp → Hotels (R→H)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50.62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</a:rPr>
                        <a:t>50.42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</a:rPr>
                        <a:t>54.43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</a:rPr>
                        <a:t>54.33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212715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0E2841"/>
                </a:solidFill>
              </a:rPr>
              <a:t>Average Accuracy: 54.43%   |   Average F1-Score: 54.33%   |   Random Baseline: 50%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b="1"/>
              <a:t>Outcome of the Project:</a:t>
            </a:r>
          </a:p>
          <a:p>
            <a:pPr>
              <a:buChar char="•"/>
            </a:pPr>
            <a:r>
              <a:t>Successfully implemented the COAT framework for cross-domain fake review detection.</a:t>
            </a:r>
          </a:p>
          <a:p>
            <a:pPr>
              <a:buChar char="•"/>
            </a:pPr>
            <a:r>
              <a:t>All 3 phases working: two-step masking, counterfactual generation, and Bi-LSTM classification.</a:t>
            </a:r>
          </a:p>
          <a:p>
            <a:pPr>
              <a:buChar char="•"/>
            </a:pPr>
            <a:r>
              <a:t>Achieved average accuracy of 54.43% and F1-score of 54.33% on Group I datasets.</a:t>
            </a:r>
          </a:p>
          <a:p>
            <a:pPr>
              <a:buChar char="•"/>
            </a:pPr>
            <a:r>
              <a:t>COAT outperforms MASK-BERT, MFE, SAGE, GRNN and other baselines on Group II datasets.</a:t>
            </a:r>
          </a:p>
          <a:p>
            <a:pPr>
              <a:buChar char="•"/>
            </a:pPr>
            <a:r>
              <a:t>Zero-shot prediction eliminates the need for labeled data in the target domain.</a:t>
            </a:r>
          </a:p>
          <a:p>
            <a:pPr>
              <a:buNone/>
            </a:pPr>
            <a:r>
              <a:rPr b="1"/>
              <a:t>Future Scope:</a:t>
            </a:r>
          </a:p>
          <a:p>
            <a:pPr>
              <a:buChar char="•"/>
            </a:pPr>
            <a:r>
              <a:t>Test on highly dissimilar domain pairs such as healthcare to electronics.</a:t>
            </a:r>
          </a:p>
          <a:p>
            <a:pPr>
              <a:buChar char="•"/>
            </a:pPr>
            <a:r>
              <a:t>Optimize BERT-based mask infilling to reduce computational time.</a:t>
            </a:r>
          </a:p>
          <a:p>
            <a:pPr>
              <a:buChar char="•"/>
            </a:pPr>
            <a:r>
              <a:t>Explore GPU training for improved accuracy matching paper results (67.74%).</a:t>
            </a:r>
          </a:p>
          <a:p>
            <a:pPr>
              <a:buChar char="•"/>
            </a:pPr>
            <a:r>
              <a:t>Extend to Group II datasets (Hotels, Restaurants, Doctors).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Char char="•"/>
            </a:pPr>
            <a:r>
              <a:t>Gupta R., Jindal V., Kashyap I. — Cross-Domain Fake Review Detection via Orthogonal Counterfactual Representations. IEEE Access, Vol. 13, 2025.</a:t>
            </a:r>
          </a:p>
          <a:p>
            <a:pPr>
              <a:buChar char="•"/>
            </a:pPr>
            <a:r>
              <a:t>Li J., Ott M., Cardie C., Hovy E. — Towards a General Rule for Identifying Deceptive Opinion Spam. ACL 2014.</a:t>
            </a:r>
          </a:p>
          <a:p>
            <a:pPr>
              <a:buChar char="•"/>
            </a:pPr>
            <a:r>
              <a:t>Ren Y. and Ji D. — Neural Networks for Deceptive Opinion Spam Detection. Information Sciences, 2017.</a:t>
            </a:r>
          </a:p>
          <a:p>
            <a:pPr>
              <a:buChar char="•"/>
            </a:pPr>
            <a:r>
              <a:t>Chen Y. et al. — Identify Deceptive Reviews in Cross-Domain Content with BERT. ICPRAI 2025.</a:t>
            </a:r>
          </a:p>
          <a:p>
            <a:pPr>
              <a:buChar char="•"/>
            </a:pPr>
            <a:r>
              <a:t>Ren G., Wang H., Yang Y. — Cross-Domain Fake Review Detection using Multi-Level Feature Extraction. Informatica, 2025.</a:t>
            </a:r>
          </a:p>
          <a:p>
            <a:pPr>
              <a:buChar char="•"/>
            </a:pPr>
            <a:r>
              <a:t>Devlin J. et al. — BERT: Pre-training of Deep Bidirectional Transformers for Language Understanding. NAACL 2019.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E284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1483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School of Computer Science and Engineering Department of Computer Science and Engineering </vt:lpstr>
      <vt:lpstr>Outline</vt:lpstr>
      <vt:lpstr>Introduction</vt:lpstr>
      <vt:lpstr>Introduction(Continued)</vt:lpstr>
      <vt:lpstr>Literature Review</vt:lpstr>
      <vt:lpstr>Literature Review</vt:lpstr>
      <vt:lpstr>Problem Statement</vt:lpstr>
      <vt:lpstr>Objectives</vt:lpstr>
      <vt:lpstr>Proposed Methodology</vt:lpstr>
      <vt:lpstr>Proposed Methodology</vt:lpstr>
      <vt:lpstr>Proposed Methodology</vt:lpstr>
      <vt:lpstr>Proposed Methodology</vt:lpstr>
      <vt:lpstr>Result</vt:lpstr>
      <vt:lpstr>Result</vt:lpstr>
      <vt:lpstr>Outcome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Review Detection of E-Commerce Electronic Products Using Machine Learning Techniques</dc:title>
  <dc:creator>Akshay Jadhav [MU - Jaipur]</dc:creator>
  <cp:lastModifiedBy>Asus</cp:lastModifiedBy>
  <cp:revision>12</cp:revision>
  <dcterms:created xsi:type="dcterms:W3CDTF">2025-09-29T05:03:41Z</dcterms:created>
  <dcterms:modified xsi:type="dcterms:W3CDTF">2026-04-13T17:28:27Z</dcterms:modified>
</cp:coreProperties>
</file>